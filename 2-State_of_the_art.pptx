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Accuracy (%) as reported by each paper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Folego: 3-class, external test</c:v>
                </c:pt>
                <c:pt idx="1">
                  <c:v>Liang: cMCI vs. ncMCI</c:v>
                </c:pt>
                <c:pt idx="2">
                  <c:v>DEMNET: ADNI test</c:v>
                </c:pt>
                <c:pt idx="3">
                  <c:v>Ghazal: Kaggle 4-class</c:v>
                </c:pt>
                <c:pt idx="4">
                  <c:v>Oraby: Kaggle 4-class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52.3</c:v>
                </c:pt>
                <c:pt idx="1">
                  <c:v>78.790000000000006</c:v>
                </c:pt>
                <c:pt idx="2">
                  <c:v>84.83</c:v>
                </c:pt>
                <c:pt idx="3">
                  <c:v>91.7</c:v>
                </c:pt>
                <c:pt idx="4">
                  <c:v>99.22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76-4041-9B27-F78C2AAB1A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892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DDCAFC97-C572-3400-7838-57EC7129AA88}"/>
              </a:ext>
            </a:extLst>
          </p:cNvPr>
          <p:cNvSpPr/>
          <p:nvPr/>
        </p:nvSpPr>
        <p:spPr>
          <a:xfrm>
            <a:off x="6309360" y="822960"/>
            <a:ext cx="2377440" cy="2377440"/>
          </a:xfrm>
          <a:prstGeom prst="ellipse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0E188A6-DAA4-C356-F5BF-F62F5C58A827}"/>
              </a:ext>
            </a:extLst>
          </p:cNvPr>
          <p:cNvSpPr/>
          <p:nvPr/>
        </p:nvSpPr>
        <p:spPr>
          <a:xfrm>
            <a:off x="7040880" y="2194560"/>
            <a:ext cx="1645920" cy="1645920"/>
          </a:xfrm>
          <a:prstGeom prst="ellipse">
            <a:avLst/>
          </a:prstGeom>
          <a:solidFill>
            <a:srgbClr val="E8743B">
              <a:alpha val="60000"/>
            </a:srgbClr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9901D58-8AB0-87B7-F318-8F823234B37F}"/>
              </a:ext>
            </a:extLst>
          </p:cNvPr>
          <p:cNvSpPr txBox="1"/>
          <p:nvPr/>
        </p:nvSpPr>
        <p:spPr>
          <a:xfrm>
            <a:off x="548640" y="128016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Alzheimer's disease progression</a:t>
            </a:r>
            <a:endParaRPr lang="en-US" sz="36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8AC2FCEC-AE25-7780-6549-CD37C1E9BDB3}"/>
              </a:ext>
            </a:extLst>
          </p:cNvPr>
          <p:cNvSpPr txBox="1"/>
          <p:nvPr/>
        </p:nvSpPr>
        <p:spPr>
          <a:xfrm>
            <a:off x="54864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 and dataset choice</a:t>
            </a:r>
            <a:endParaRPr lang="en-US" sz="20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552D2FA4-5BB0-DFF3-2124-D1D16339D701}"/>
              </a:ext>
            </a:extLst>
          </p:cNvPr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and Deep Learning project  |  Step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 and research questions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MRI, PET, cognitive, clinical data and biomarkers together to predict progression to Alzheimer’s disease.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vs. unimodal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661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combining imaging, clinical data and biomarkers improve prediction?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46120" y="192024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474720" y="21488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34747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Longitudinal vs. static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5661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several visits predict better than a single visit?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263640" y="21488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62636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5661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survive missing modalities or missing visits?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reviewed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Folego 2020, Ghazal 2022, Oraby 2025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560320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/ meta-analyses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Afzal 2021, Mubonanyikuzo 2025, Chamakuri 2025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4663440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biomarker study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VandeVrede 2025 (JAMA Neurology)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6766560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Project-sheet references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Xu, Rahim, Belhaj Ali, Dritsas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most papers do diagnosis (static classification). Only the project-sheet references address progression, longitudinal or multimodal prediction.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studies: data, methods, results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/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Folego et al. 2020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 / MCI / AD (3 classes)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ADNI, AIBL, MIRIAD, OASIS (23,165 MRI); tested on CADDementia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Whole-brain 3D-CNN (VGG-based) + domain adaptation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52.3% accuracy on external test. Realistic, MCI hardest. 80x faster than the winner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Ghazal et al. 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stages (ND, VMD, MD, MOD)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MRI slices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 transfer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 validation accuracy. 2D, no external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Oraby et al.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4 stages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Kaggle, 6,400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DSR-GAN super-resolution + CNN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99.22% accuracy. Likely optimistic: one dataset, no external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VandeVrede et al.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AD pathology (autopsy)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UCSF, 349 autopsied patients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Plasma p-tau217, NfL, GFAP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p-tau217 AUC 0.95; NfL 0.73; GFAP 0.75. Supports RQ1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 and meta-analyses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Afzal 2021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to CNN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SVM, Bayes, LDA, k-means, CNN, transfer learning. Roughly 80–99% depending on task. ADNI, OASIS, AIBL, MIRIAD.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Mubonanyikuzo 2025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945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studies, MRI + PET, AD vs. healthy. Sensitivity 0.925, specificity 0.957, AUC 0.924. Hybrids beat ViT alone. High heterogeneity.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62179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Chamakuri 2025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AI articles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945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ADNI and OASIS dominate. Recommends transformers, GAN augmentation, federated learning and multimodal fusion. Small data is the key gap.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Progression, multimodal and longitudinal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project sheet. Details to be checked in the original papers.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ADNI, 252 MCI; ext. validation ADNI-3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deep learning with interaction effects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+4.76% from fusion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 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sequence learning, incomplete variable-length visits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missing modalities and visits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RQ2, RQ3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Rahim 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ADNI, longitudinal MRI + demographics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3D-CNN + BRNN with explainability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Belhaj Ali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ADNI, OASIS-3, AIBL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Self-supervised MRI–PET, longitudinal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Cross-cohort generalisation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relevant: Hong 2019 (LSTM), Liang (3D DenseNet: 78.79% cMCI vs. ncMCI), Dritsas 2025 (Apache Spark scaling for the Big Data pipeline).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accuracy depends on the setting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9728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37160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directly comparable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tasks, datasets and splits.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public Kaggle slices give 90%+, but external 3D evaluation drops to about 52%.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tasks (MCI converters) are clearly harder than diagnosis.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trend and research gaps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+ hand-crafted features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2801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2651760" y="1097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/ 3D CNN, transfer learning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2801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4754880" y="1097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GAN, ViT, hybrids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2801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6858000" y="1097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+ longitudinal (CNN+RNN, self-supervised)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our project addresses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59436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4747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 to AD is far less studied than diagnosis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560320" y="27889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269748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+ longitudinal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34747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combined in one model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27889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480060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4747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Xu 2022 handles it explicitly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766560" y="27889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690372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47472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validation or standard protocol in most papers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options: access and fit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Free. Online application on LONI IDA, reviewed in about 2 weeks. Academic use, annual update required.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MRI, PET, cognitive, biomarkers, genetics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AIBL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Free. Same LONI IDA application form as ADNI.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MRI, PET, cognitive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OASIS-3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with data use agreement. Migration to NITRC-IR in progress: access delayed.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MRI, PET, clinical, cognitive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OASIS-2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with data use agreement. 150 subjects, small.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start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4-class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instant download.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MRI slices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suitable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ADNI and OASIS official access pages. Check the current status before applying.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choice and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ADNI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dataset: longitudinal, multimodal, most used in the literature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2E3878"/>
          </a:solidFill>
          <a:ln w="12700">
            <a:solidFill>
              <a:srgbClr val="2E38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640080" y="23591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AIBL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validation, same application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2E3878"/>
          </a:solidFill>
          <a:ln w="12700">
            <a:solidFill>
              <a:srgbClr val="2E38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640080" y="3456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OASIS-2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the pipeline while ADNI is pending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4846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ADNI + AIBL access (about 2 weeks)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46320" y="242316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48463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data pipeline on OASIS-2 meanwhile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unimodal vs. multimodal (RQ1)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46320" y="388620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48463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longitudinal visits (RQ2) and missing data tests (RQ3)</a:t>
            </a:r>
            <a:endParaRPr lang="en-US" sz="135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C01C7F1D-47E9-27F6-8C73-4FFB083DD325}"/>
              </a:ext>
            </a:extLst>
          </p:cNvPr>
          <p:cNvSpPr/>
          <p:nvPr/>
        </p:nvSpPr>
        <p:spPr>
          <a:xfrm>
            <a:off x="7528560" y="4785360"/>
            <a:ext cx="28194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9561A919-1B0A-3DE9-A361-663394B5A1DD}"/>
              </a:ext>
            </a:extLst>
          </p:cNvPr>
          <p:cNvSpPr/>
          <p:nvPr/>
        </p:nvSpPr>
        <p:spPr>
          <a:xfrm>
            <a:off x="8168640" y="4785360"/>
            <a:ext cx="28194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18AABFF8-C7C3-FF71-3BE7-D307ECC4EE8B}"/>
              </a:ext>
            </a:extLst>
          </p:cNvPr>
          <p:cNvSpPr/>
          <p:nvPr/>
        </p:nvSpPr>
        <p:spPr>
          <a:xfrm>
            <a:off x="8808720" y="4785360"/>
            <a:ext cx="28194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903</Words>
  <Application>Microsoft Office PowerPoint</Application>
  <PresentationFormat>On-screen Show (16:9)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of the art: Alzheimer progression prediction</dc:title>
  <dc:subject>PptxGenJS Presentation</dc:subject>
  <dc:creator>PptxGenJS</dc:creator>
  <cp:lastModifiedBy>Othmen CHTIOUI</cp:lastModifiedBy>
  <cp:revision>2</cp:revision>
  <dcterms:created xsi:type="dcterms:W3CDTF">2026-09-30T10:54:47Z</dcterms:created>
  <dcterms:modified xsi:type="dcterms:W3CDTF">2026-09-30T11:36:41Z</dcterms:modified>
</cp:coreProperties>
</file>